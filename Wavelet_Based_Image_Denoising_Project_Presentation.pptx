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95360" y="960120"/>
            <a:ext cx="2103120" cy="2103120"/>
          </a:xfrm>
          <a:prstGeom prst="ellipse">
            <a:avLst/>
          </a:prstGeom>
          <a:solidFill>
            <a:srgbClr val="9D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2788920"/>
            <a:ext cx="1600200" cy="1600200"/>
          </a:xfrm>
          <a:prstGeom prst="ellipse">
            <a:avLst/>
          </a:prstGeom>
          <a:solidFill>
            <a:srgbClr val="EF57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955279" y="3977639"/>
            <a:ext cx="1143000" cy="1143000"/>
          </a:xfrm>
          <a:prstGeom prst="ellipse">
            <a:avLst/>
          </a:prstGeom>
          <a:solidFill>
            <a:srgbClr val="39D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7132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9D0DE"/>
                </a:solidFill>
                <a:latin typeface="Aptos"/>
              </a:defRPr>
            </a:pPr>
            <a:r>
              <a:t>DIGITAL IMAGE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75895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700" b="1">
                <a:solidFill>
                  <a:srgbClr val="F7F9FF"/>
                </a:solidFill>
                <a:latin typeface="Aptos Display"/>
              </a:defRPr>
            </a:pPr>
            <a:r>
              <a:t>WAVELET-BASED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9748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900" b="1">
                <a:solidFill>
                  <a:srgbClr val="4196FF"/>
                </a:solidFill>
                <a:latin typeface="Aptos Display"/>
              </a:defRPr>
            </a:pPr>
            <a:r>
              <a:t>IMAGE DENOISING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54433"/>
            <a:ext cx="7132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BCC8DE"/>
                </a:solidFill>
                <a:latin typeface="Aptos"/>
              </a:defRPr>
            </a:pPr>
            <a:r>
              <a:rPr dirty="0"/>
              <a:t>Using DWT and Soft / Hard Thresholding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137660"/>
            <a:ext cx="6309360" cy="68580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" y="4325112"/>
            <a:ext cx="5897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7F9FF"/>
                </a:solidFill>
                <a:latin typeface="Aptos"/>
              </a:defRPr>
            </a:pPr>
            <a:r>
              <a:rPr dirty="0"/>
              <a:t>MAJOR PROJECT PRESENTATION  •  DIP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8FD26-CBFF-444F-95B7-8C7B0E0040D6}"/>
              </a:ext>
            </a:extLst>
          </p:cNvPr>
          <p:cNvSpPr txBox="1"/>
          <p:nvPr/>
        </p:nvSpPr>
        <p:spPr>
          <a:xfrm>
            <a:off x="777240" y="5164574"/>
            <a:ext cx="33705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Name: Gudimalla Apoorva</a:t>
            </a:r>
            <a:br>
              <a:rPr lang="en-IN" dirty="0">
                <a:solidFill>
                  <a:schemeClr val="bg1"/>
                </a:solidFill>
                <a:latin typeface="Amasis MT Pro" panose="020405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IN" dirty="0" err="1">
                <a:solidFill>
                  <a:schemeClr val="bg1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Enrollment</a:t>
            </a:r>
            <a:r>
              <a:rPr lang="en-IN" dirty="0">
                <a:solidFill>
                  <a:schemeClr val="bg1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no.: 24CS003334</a:t>
            </a:r>
            <a:br>
              <a:rPr lang="en-IN" dirty="0">
                <a:solidFill>
                  <a:schemeClr val="bg1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IN" dirty="0">
                <a:solidFill>
                  <a:schemeClr val="bg1"/>
                </a:solidFill>
                <a:latin typeface="Amasis MT Pro Medium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Section: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01  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What the system does and why it is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520440" cy="205740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205740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81912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CC8DE"/>
                </a:solidFill>
                <a:latin typeface="Aptos"/>
              </a:defRPr>
            </a:pPr>
            <a:r>
              <a:t>Digital images can contain grain-like noise that affects clarity, texture and visual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205740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205740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581912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THE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01168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CC8DE"/>
                </a:solidFill>
                <a:latin typeface="Aptos"/>
              </a:defRPr>
            </a:pPr>
            <a:r>
              <a:t>Use the Discrete Wavelet Transform to separate image details, threshold noisy coefficients, then reconstruct.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520440" cy="205740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2057400"/>
          </a:xfrm>
          <a:prstGeom prst="rect">
            <a:avLst/>
          </a:prstGeom>
          <a:solidFill>
            <a:srgbClr val="EF57B1"/>
          </a:solidFill>
          <a:ln>
            <a:solidFill>
              <a:srgbClr val="EF5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581912"/>
            <a:ext cx="31363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THE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011680"/>
            <a:ext cx="310896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CC8DE"/>
                </a:solidFill>
                <a:latin typeface="Aptos"/>
              </a:defRPr>
            </a:pPr>
            <a:r>
              <a:t>A web interface uploads an image, lets users choose soft/hard thresholding and displays a returned output.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10927080" cy="1508760"/>
          </a:xfrm>
          <a:prstGeom prst="roundRect">
            <a:avLst/>
          </a:prstGeom>
          <a:solidFill>
            <a:srgbClr val="192B4B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09651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9D0DE"/>
                </a:solidFill>
                <a:latin typeface="Aptos"/>
              </a:defRPr>
            </a:pPr>
            <a:r>
              <a:t>PROJECT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7F9FF"/>
                </a:solidFill>
                <a:latin typeface="Aptos"/>
              </a:defRPr>
            </a:pPr>
            <a:r>
              <a:t>Upload  →  Set threshold  →  DWT  →  Threshold details  →  Inverse DWT  →  Display / 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3CFA0"/>
                </a:solidFill>
                <a:latin typeface="Aptos"/>
              </a:defRPr>
            </a:pPr>
            <a:r>
              <a:rPr dirty="0"/>
              <a:t>Main aim: reduce noise while keeping important edges, </a:t>
            </a:r>
            <a:r>
              <a:rPr dirty="0" err="1"/>
              <a:t>colours</a:t>
            </a:r>
            <a:r>
              <a:rPr dirty="0"/>
              <a:t> and fine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02 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The key goals of the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7F9FF"/>
                </a:solidFill>
                <a:latin typeface="Aptos"/>
              </a:defRPr>
            </a:pPr>
            <a:r>
              <a:t>•  Create a simple, responsive web interface for image denoising.</a:t>
            </a:r>
          </a:p>
          <a:p>
            <a:pPr>
              <a:spcAft>
                <a:spcPts val="1400"/>
              </a:spcAft>
              <a:defRPr sz="1800">
                <a:solidFill>
                  <a:srgbClr val="F7F9FF"/>
                </a:solidFill>
                <a:latin typeface="Aptos"/>
              </a:defRPr>
            </a:pPr>
            <a:r>
              <a:t>•  Connect the browser interface to a Python Flask backend.</a:t>
            </a:r>
          </a:p>
          <a:p>
            <a:pPr>
              <a:spcAft>
                <a:spcPts val="1400"/>
              </a:spcAft>
              <a:defRPr sz="1800">
                <a:solidFill>
                  <a:srgbClr val="F7F9FF"/>
                </a:solidFill>
                <a:latin typeface="Aptos"/>
              </a:defRPr>
            </a:pPr>
            <a:r>
              <a:t>•  Apply DWT to represent image information at multiple scales.</a:t>
            </a:r>
          </a:p>
          <a:p>
            <a:pPr>
              <a:spcAft>
                <a:spcPts val="1400"/>
              </a:spcAft>
              <a:defRPr sz="1800">
                <a:solidFill>
                  <a:srgbClr val="F7F9FF"/>
                </a:solidFill>
                <a:latin typeface="Aptos"/>
              </a:defRPr>
            </a:pPr>
            <a:r>
              <a:t>•  Support both soft and hard thresholding of detail coefficients.</a:t>
            </a:r>
          </a:p>
          <a:p>
            <a:pPr>
              <a:spcAft>
                <a:spcPts val="1400"/>
              </a:spcAft>
              <a:defRPr sz="1800">
                <a:solidFill>
                  <a:srgbClr val="F7F9FF"/>
                </a:solidFill>
                <a:latin typeface="Aptos"/>
              </a:defRPr>
            </a:pPr>
            <a:r>
              <a:t>•  Let users adjust threshold strength and compare input/output images.</a:t>
            </a:r>
          </a:p>
          <a:p>
            <a:pPr>
              <a:spcAft>
                <a:spcPts val="1400"/>
              </a:spcAft>
              <a:defRPr sz="1800">
                <a:solidFill>
                  <a:srgbClr val="F7F9FF"/>
                </a:solidFill>
                <a:latin typeface="Aptos"/>
              </a:defRPr>
            </a:pPr>
            <a:r>
              <a:t>•  Show image metadata and provide download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56616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1554480"/>
            <a:ext cx="73152" cy="1234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91856" y="171907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1856" y="2148840"/>
            <a:ext cx="315467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JPG / JPEG / PNG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971800"/>
            <a:ext cx="356616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0" y="2971800"/>
            <a:ext cx="73152" cy="123444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91856" y="313639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3566160"/>
            <a:ext cx="315467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OpenCV + PyWavelets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389120"/>
            <a:ext cx="356616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0" y="4389120"/>
            <a:ext cx="73152" cy="1234440"/>
          </a:xfrm>
          <a:prstGeom prst="rect">
            <a:avLst/>
          </a:prstGeom>
          <a:solidFill>
            <a:srgbClr val="43CFA0"/>
          </a:solidFill>
          <a:ln>
            <a:solidFill>
              <a:srgbClr val="43C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91856" y="4553712"/>
            <a:ext cx="31821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4983480"/>
            <a:ext cx="315467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Reconstructed PNG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03  Technical Method: DWT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Wavelets analyse an image at multiple resolutions.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50876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50876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58191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1.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11680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DWT separates the image into an approximation band (LL) and detail bands (LH, HL, HH).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150876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50876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158191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2. NOISE ESTIMATION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7376" y="2011680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The backend estimates noise level from the finest diagonal detail coefficients.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46120"/>
            <a:ext cx="5257800" cy="150876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46120"/>
            <a:ext cx="73152" cy="1508760"/>
          </a:xfrm>
          <a:prstGeom prst="rect">
            <a:avLst/>
          </a:prstGeom>
          <a:solidFill>
            <a:srgbClr val="EF57B1"/>
          </a:solidFill>
          <a:ln>
            <a:solidFill>
              <a:srgbClr val="EF5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341071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3. THRESHOLDING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840480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Small detail coefficients are reduced or set to zero; the selected method controls how larger values behave.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46120"/>
            <a:ext cx="5257800" cy="150876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46120"/>
            <a:ext cx="73152" cy="1508760"/>
          </a:xfrm>
          <a:prstGeom prst="rect">
            <a:avLst/>
          </a:prstGeom>
          <a:solidFill>
            <a:srgbClr val="43CFA0"/>
          </a:solidFill>
          <a:ln>
            <a:solidFill>
              <a:srgbClr val="43C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7376" y="3410712"/>
            <a:ext cx="48737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4. RECONSTRUCTION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840480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Inverse DWT recombines the filtered coefficients into the output image.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66360"/>
            <a:ext cx="10789920" cy="594360"/>
          </a:xfrm>
          <a:prstGeom prst="roundRect">
            <a:avLst/>
          </a:prstGeom>
          <a:solidFill>
            <a:srgbClr val="192B4B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330952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CC8DE"/>
                </a:solidFill>
                <a:latin typeface="Aptos"/>
              </a:defRPr>
            </a:pPr>
            <a:r>
              <a:t>Colour handling: the current backend processes the luminance channel in YCrCb, then converts back to BGR.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04  Soft vs. Hard Thresholding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Both methods remove small coefficients, but handle retained coefficients differently.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5166360" cy="30175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301752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673351"/>
            <a:ext cx="4782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SOFT THRESHOLDING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2103120"/>
            <a:ext cx="4754880" cy="2304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CC8DE"/>
                </a:solidFill>
                <a:latin typeface="Aptos"/>
              </a:defRPr>
            </a:pPr>
            <a:r>
              <a:t>• Values with magnitude below the threshold become zero.</a:t>
            </a:r>
            <a:br/>
            <a:br/>
            <a:r>
              <a:t>• Values above it are shrunk toward zero.</a:t>
            </a:r>
            <a:br/>
            <a:br/>
            <a:r>
              <a:t>• Often creates smoother results and can reduce harsh artefacts.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66360" cy="30175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73152" cy="3017520"/>
          </a:xfrm>
          <a:prstGeom prst="rect">
            <a:avLst/>
          </a:prstGeom>
          <a:solidFill>
            <a:srgbClr val="EF57B1"/>
          </a:solidFill>
          <a:ln>
            <a:solidFill>
              <a:srgbClr val="EF5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3096" y="1673351"/>
            <a:ext cx="4782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HARD THRESHOLDING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103120"/>
            <a:ext cx="4754880" cy="2304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CC8DE"/>
                </a:solidFill>
                <a:latin typeface="Aptos"/>
              </a:defRPr>
            </a:pPr>
            <a:r>
              <a:t>• Values below the threshold become zero.</a:t>
            </a:r>
            <a:br/>
            <a:br/>
            <a:r>
              <a:t>• Values above it are kept unchanged.</a:t>
            </a:r>
            <a:br/>
            <a:br/>
            <a:r>
              <a:t>• Can retain strong detail but may leave sharper transitions.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92040"/>
            <a:ext cx="10652760" cy="731520"/>
          </a:xfrm>
          <a:prstGeom prst="roundRect">
            <a:avLst/>
          </a:prstGeom>
          <a:solidFill>
            <a:srgbClr val="192B4B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093208"/>
            <a:ext cx="101498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3CFA0"/>
                </a:solidFill>
                <a:latin typeface="Aptos"/>
              </a:defRPr>
            </a:pPr>
            <a:r>
              <a:t>Threshold trade-off: stronger filtering may remove more noise, but can also erase fine textures and edges.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05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The frontend sends the image and settings to the backend.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16459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9D0D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231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9FF"/>
                </a:solidFill>
                <a:latin typeface="Aptos"/>
              </a:defRPr>
            </a:pPr>
            <a:r>
              <a:t>Browser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529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CC8DE"/>
                </a:solidFill>
                <a:latin typeface="Aptos"/>
              </a:defRPr>
            </a:pPr>
            <a:r>
              <a:t>HTML +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1" y="23957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196FF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828800"/>
            <a:ext cx="1965960" cy="16459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35224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9D0D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4231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9FF"/>
                </a:solidFill>
                <a:latin typeface="Aptos"/>
              </a:defRPr>
            </a:pPr>
            <a:r>
              <a:t>User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28529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CC8DE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3957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196FF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828800"/>
            <a:ext cx="1965960" cy="16459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21224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9D0D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4231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9FF"/>
                </a:solidFill>
                <a:latin typeface="Aptos"/>
              </a:defRPr>
            </a:pPr>
            <a:r>
              <a:t>HTTP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8529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CC8DE"/>
                </a:solidFill>
                <a:latin typeface="Aptos"/>
              </a:defRPr>
            </a:pPr>
            <a:r>
              <a:t>POST /denoise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2592" y="23957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196FF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1828800"/>
            <a:ext cx="1965960" cy="16459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07224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9D0D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4231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9FF"/>
                </a:solidFill>
                <a:latin typeface="Aptos"/>
              </a:defRPr>
            </a:pPr>
            <a:r>
              <a:t>Image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8529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CC8DE"/>
                </a:solidFill>
                <a:latin typeface="Aptos"/>
              </a:defRPr>
            </a:pPr>
            <a:r>
              <a:t>Flask + OpenCV + PyWavelets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3957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196FF"/>
                </a:solidFill>
                <a:latin typeface="Aptos"/>
              </a:defRPr>
            </a:pPr>
            <a: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828800"/>
            <a:ext cx="1965960" cy="16459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93224" y="199339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39D0D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648" y="242316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F9FF"/>
                </a:solidFill>
                <a:latin typeface="Aptos"/>
              </a:defRPr>
            </a:pPr>
            <a:r>
              <a:t>PNG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28529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CC8DE"/>
                </a:solidFill>
                <a:latin typeface="Aptos"/>
              </a:defRPr>
            </a:pPr>
            <a:r>
              <a:t>Display / Download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069080"/>
            <a:ext cx="521208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069080"/>
            <a:ext cx="73152" cy="123444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0976" y="4233672"/>
            <a:ext cx="4828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FRONTEND RESPONSIBILITIES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" y="4663440"/>
            <a:ext cx="48006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Select image, read threshold controls, send request, show output and metadata.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069080"/>
            <a:ext cx="5212080" cy="12344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4069080"/>
            <a:ext cx="73152" cy="1234440"/>
          </a:xfrm>
          <a:prstGeom prst="rect">
            <a:avLst/>
          </a:prstGeom>
          <a:solidFill>
            <a:srgbClr val="43CFA0"/>
          </a:solidFill>
          <a:ln>
            <a:solidFill>
              <a:srgbClr val="43C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7376" y="4233672"/>
            <a:ext cx="4828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BACKEND RESPONSIBILITIES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4663440"/>
            <a:ext cx="48006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Decode image, run wavelet processing, reconstruct image and return PNG bytes.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06  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Corrected orientation of the submitted project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3302B-4D75-708A-B3DE-98BFD102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882"/>
            <a:ext cx="6523349" cy="51836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BCCFBD-AAB6-81C8-04CD-F00613AAE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934" y="1326881"/>
            <a:ext cx="5744066" cy="50348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07  Output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What can be concluded from the current screenshot.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21488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21488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58191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ORIGINAL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11680"/>
            <a:ext cx="3063239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The flower and ladybugs are visible, with noticeable grain-like noise in the background and image details.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21488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214884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58191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DENOISED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011680"/>
            <a:ext cx="3063239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The output is displayed successfully, but its visible difference from the original is subtle in the supplied screenshot.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474720" cy="21488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2148840"/>
          </a:xfrm>
          <a:prstGeom prst="rect">
            <a:avLst/>
          </a:prstGeom>
          <a:solidFill>
            <a:srgbClr val="EF57B1"/>
          </a:solidFill>
          <a:ln>
            <a:solidFill>
              <a:srgbClr val="EF5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0456" y="158191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011680"/>
            <a:ext cx="3063239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A screenshot alone cannot prove strong noise reduction. Compare outputs at several thresholds and inspect pixel differences.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77639"/>
            <a:ext cx="10789920" cy="1234440"/>
          </a:xfrm>
          <a:prstGeom prst="roundRect">
            <a:avLst/>
          </a:prstGeom>
          <a:solidFill>
            <a:srgbClr val="192B4B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87952"/>
            <a:ext cx="10241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9D0DE"/>
                </a:solidFill>
                <a:latin typeface="Aptos"/>
              </a:defRPr>
            </a:pPr>
            <a:r>
              <a:t>Suggested test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9028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7F9FF"/>
                </a:solidFill>
                <a:latin typeface="Aptos"/>
              </a:defRPr>
            </a:pPr>
            <a:r>
              <a:t>Soft: 20 / 50 / 80     •     Hard: 20 / 50 / 80     •     Use the same image for every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3CFA0"/>
                </a:solidFill>
                <a:latin typeface="Aptos"/>
              </a:defRPr>
            </a:pPr>
            <a:r>
              <a:t>Evaluation tip: measure mean absolute pixel difference; for known clean references, also use PSNR or SSIM.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08  Testing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A repeatable way to check whether denoising is working.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19202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581912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TEST 1 —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011680"/>
            <a:ext cx="30175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Upload a valid image and confirm the backend returns a PNG output without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92024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8576" y="1581912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TEST 2 —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011680"/>
            <a:ext cx="30175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Run the same image with low, medium and high threshold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29000" cy="192024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73152" cy="1920240"/>
          </a:xfrm>
          <a:prstGeom prst="rect">
            <a:avLst/>
          </a:prstGeom>
          <a:solidFill>
            <a:srgbClr val="43CFA0"/>
          </a:solidFill>
          <a:ln>
            <a:solidFill>
              <a:srgbClr val="43C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6" y="1581912"/>
            <a:ext cx="30449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TEST 3 —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011680"/>
            <a:ext cx="30175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CC8DE"/>
                </a:solidFill>
                <a:latin typeface="Aptos"/>
              </a:defRPr>
            </a:pPr>
            <a:r>
              <a:t>Inspect fine detail, background grain and edges at the same zoom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94760"/>
            <a:ext cx="10744200" cy="155448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0233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9D0DE"/>
                </a:solidFill>
                <a:latin typeface="Aptos"/>
              </a:defRPr>
            </a:pPr>
            <a:r>
              <a:t>OPTIONAL NUMERIC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348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7F9FF"/>
                </a:solidFill>
                <a:latin typeface="Aptos"/>
              </a:defRPr>
            </a:pPr>
            <a:r>
              <a:t>Mean absolute difference = average of |original pixel − denoised pixel|. A value of 0 means the images are identical; a nonzero value means at least some pixel values changed.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CC8DE"/>
                </a:solidFill>
                <a:latin typeface="Aptos"/>
              </a:defRPr>
            </a:pPr>
            <a:r>
              <a:t>Note: a changed image is not automatically a better image—visual quality and detail preservation matter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t>09 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Each technology has a specific role in the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58191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11680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Defines page structure, controls and image panels.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7472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417320"/>
            <a:ext cx="73152" cy="141732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58191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011680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Provides layout, responsive styling, colours and theme.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417320"/>
            <a:ext cx="347472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01000" y="1417320"/>
            <a:ext cx="73152" cy="1417320"/>
          </a:xfrm>
          <a:prstGeom prst="rect">
            <a:avLst/>
          </a:prstGeom>
          <a:solidFill>
            <a:srgbClr val="EF57B1"/>
          </a:solidFill>
          <a:ln>
            <a:solidFill>
              <a:srgbClr val="EF5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0456" y="158191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011680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Handles file selection, settings, API requests and output display.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54680"/>
            <a:ext cx="347472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154680"/>
            <a:ext cx="73152" cy="1417320"/>
          </a:xfrm>
          <a:prstGeom prst="rect">
            <a:avLst/>
          </a:prstGeom>
          <a:solidFill>
            <a:srgbClr val="43CFA0"/>
          </a:solidFill>
          <a:ln>
            <a:solidFill>
              <a:srgbClr val="43C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" y="331927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Python + Flask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749040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Receives uploaded files and returns processed image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154680"/>
            <a:ext cx="347472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3154680"/>
            <a:ext cx="73152" cy="141732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62856" y="331927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OpenCV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6" y="3749040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Decodes images and converts between colour spaces.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154680"/>
            <a:ext cx="3474720" cy="1417320"/>
          </a:xfrm>
          <a:prstGeom prst="roundRect">
            <a:avLst/>
          </a:prstGeom>
          <a:solidFill>
            <a:srgbClr val="14223D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3154680"/>
            <a:ext cx="73152" cy="1417320"/>
          </a:xfrm>
          <a:prstGeom prst="rect">
            <a:avLst/>
          </a:prstGeom>
          <a:solidFill>
            <a:srgbClr val="9D69FF"/>
          </a:solidFill>
          <a:ln>
            <a:solidFill>
              <a:srgbClr val="9D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0456" y="3319272"/>
            <a:ext cx="30906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PyWavelets + 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749040"/>
            <a:ext cx="306323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CC8DE"/>
                </a:solidFill>
                <a:latin typeface="Aptos"/>
              </a:defRPr>
            </a:pPr>
            <a:r>
              <a:t>Performs DWT, thresholding, reconstruction and array operations.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74920"/>
            <a:ext cx="10789920" cy="640080"/>
          </a:xfrm>
          <a:prstGeom prst="roundRect">
            <a:avLst/>
          </a:prstGeom>
          <a:solidFill>
            <a:srgbClr val="192B4B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25780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F9FF"/>
                </a:solidFill>
                <a:latin typeface="Aptos"/>
              </a:defRPr>
            </a:pPr>
            <a:r>
              <a:t>API endpoint: POST /denoise     |     Response format: PNG image     |     Local Flask port: 5000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196FF"/>
          </a:solidFill>
          <a:ln>
            <a:solidFill>
              <a:srgbClr val="4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7F9FF"/>
                </a:solidFill>
                <a:latin typeface="Aptos Display"/>
              </a:defRPr>
            </a:pPr>
            <a:r>
              <a:rPr dirty="0"/>
              <a:t>1</a:t>
            </a:r>
            <a:r>
              <a:rPr lang="en-IN" dirty="0"/>
              <a:t>0</a:t>
            </a:r>
            <a:r>
              <a:rPr dirty="0"/>
              <a:t>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50392"/>
            <a:ext cx="10972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BCC8DE"/>
                </a:solidFill>
                <a:latin typeface="Aptos"/>
              </a:defRPr>
            </a:pPr>
            <a:r>
              <a:t>Key takeaways from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1148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BCC8DE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1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7F9FF"/>
                </a:solidFill>
                <a:latin typeface="Aptos"/>
              </a:defRPr>
            </a:pPr>
            <a:r>
              <a:t>•  The project connects a web interface to a Python image-processing backend.</a:t>
            </a:r>
          </a:p>
          <a:p>
            <a:pPr>
              <a:spcAft>
                <a:spcPts val="1600"/>
              </a:spcAft>
              <a:defRPr sz="1900">
                <a:solidFill>
                  <a:srgbClr val="F7F9FF"/>
                </a:solidFill>
                <a:latin typeface="Aptos"/>
              </a:defRPr>
            </a:pPr>
            <a:r>
              <a:t>•  DWT separates image details; soft/hard thresholding modifies detail coefficients.</a:t>
            </a:r>
          </a:p>
          <a:p>
            <a:pPr>
              <a:spcAft>
                <a:spcPts val="1600"/>
              </a:spcAft>
              <a:defRPr sz="1900">
                <a:solidFill>
                  <a:srgbClr val="F7F9FF"/>
                </a:solidFill>
                <a:latin typeface="Aptos"/>
              </a:defRPr>
            </a:pPr>
            <a:r>
              <a:t>•  Inverse DWT reconstructs an image that can be previewed and downloaded.</a:t>
            </a:r>
          </a:p>
          <a:p>
            <a:pPr>
              <a:spcAft>
                <a:spcPts val="1600"/>
              </a:spcAft>
              <a:defRPr sz="1900">
                <a:solidFill>
                  <a:srgbClr val="F7F9FF"/>
                </a:solidFill>
                <a:latin typeface="Aptos"/>
              </a:defRPr>
            </a:pPr>
            <a:r>
              <a:t>•  Output quality should be verified through visual comparison and, where possible, objective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74920"/>
            <a:ext cx="8503920" cy="822960"/>
          </a:xfrm>
          <a:prstGeom prst="roundRect">
            <a:avLst/>
          </a:prstGeom>
          <a:solidFill>
            <a:srgbClr val="192B4B"/>
          </a:solidFill>
          <a:ln>
            <a:solidFill>
              <a:srgbClr val="384E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11680" y="5285232"/>
            <a:ext cx="8138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196FF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959</Words>
  <Application>Microsoft Office PowerPoint</Application>
  <PresentationFormat>Widescreen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Amasis MT Pro</vt:lpstr>
      <vt:lpstr>Amasis MT Pro Medium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Gudimalla Apoorva</cp:lastModifiedBy>
  <cp:revision>3</cp:revision>
  <dcterms:created xsi:type="dcterms:W3CDTF">2013-01-27T09:14:16Z</dcterms:created>
  <dcterms:modified xsi:type="dcterms:W3CDTF">2026-10-12T11:13:38Z</dcterms:modified>
  <cp:category/>
</cp:coreProperties>
</file>